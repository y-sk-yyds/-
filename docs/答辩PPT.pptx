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8" r:id="rId7"/>
    <p:sldId id="269" r:id="rId8"/>
    <p:sldId id="261" r:id="rId10"/>
    <p:sldId id="270" r:id="rId11"/>
    <p:sldId id="262" r:id="rId12"/>
    <p:sldId id="271" r:id="rId13"/>
    <p:sldId id="263" r:id="rId14"/>
    <p:sldId id="272" r:id="rId15"/>
    <p:sldId id="264" r:id="rId16"/>
    <p:sldId id="265" r:id="rId17"/>
    <p:sldId id="266" r:id="rId18"/>
    <p:sldId id="267" r:id="rId1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5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5123" name="文本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社区诊所门诊诊疗管理系统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09399"/>
                </a:solidFill>
                <a:latin typeface="微软雅黑" panose="020B0503020204020204" charset="-122"/>
              </a:defRPr>
            </a:pPr>
            <a:r>
              <a:t>Community Clinic Outpatient Management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00400"/>
            <a:ext cx="2103120" cy="36576"/>
          </a:xfrm>
          <a:prstGeom prst="rect">
            <a:avLst/>
          </a:prstGeom>
          <a:solidFill>
            <a:srgbClr val="27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毕业设计答辩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09399"/>
                </a:solidFill>
                <a:latin typeface="微软雅黑" panose="020B0503020204020204" charset="-122"/>
              </a:defRPr>
            </a:pPr>
            <a:r>
              <a:t>Spring Boot + Vue3 + Redis + RabbitMQ + MySQL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09399"/>
                </a:solidFill>
                <a:latin typeface="微软雅黑" panose="020B0503020204020204" charset="-122"/>
              </a:defRPr>
            </a:pPr>
            <a:r>
              <a:t>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项目背景与目标</a:t>
            </a:r>
          </a:p>
        </p:txBody>
      </p:sp>
      <p:sp>
        <p:nvSpPr>
          <p:cNvPr id="4" name="Rectangle 3"/>
          <p:cNvSpPr/>
          <p:nvPr>
            <p:custDataLst>
              <p:tags r:id="rId1"/>
            </p:custDataLst>
          </p:nvPr>
        </p:nvSpPr>
        <p:spPr>
          <a:xfrm>
            <a:off x="731520" y="1188720"/>
            <a:ext cx="33832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>
            <p:custDataLst>
              <p:tags r:id="rId2"/>
            </p:custDataLst>
          </p:nvPr>
        </p:nvSpPr>
        <p:spPr>
          <a:xfrm>
            <a:off x="731520" y="1188720"/>
            <a:ext cx="54864" cy="2286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1005840" y="1325880"/>
            <a:ext cx="292608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rPr lang="en-US"/>
              <a:t>1</a:t>
            </a:r>
            <a:r>
              <a:t>#</a:t>
            </a:r>
            <a:endParaRPr lang="en-US"/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1005840" y="1737360"/>
            <a:ext cx="292608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399"/>
                </a:solidFill>
                <a:latin typeface="微软雅黑" panose="020B0503020204020204" charset="-122"/>
              </a:defRPr>
            </a:pPr>
            <a:r>
              <a:rPr lang="en-US" sz="2200" b="1">
                <a:solidFill>
                  <a:srgbClr val="E74C3C"/>
                </a:solidFill>
              </a:rPr>
              <a:t>行业痛点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1005840" y="20574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小型诊所依赖纸质/Excel管理</a:t>
            </a:r>
            <a:br/>
            <a:r>
              <a:t>挂号窗口排队，号源超卖</a:t>
            </a:r>
            <a:br/>
            <a:r>
              <a:t>病历隐私保护不足</a:t>
            </a:r>
            <a:br/>
            <a:r>
              <a:t>复诊跟踪缺失</a:t>
            </a:r>
          </a:p>
        </p:txBody>
      </p:sp>
      <p:sp>
        <p:nvSpPr>
          <p:cNvPr id="9" name="Rectangle 8"/>
          <p:cNvSpPr/>
          <p:nvPr>
            <p:custDataLst>
              <p:tags r:id="rId6"/>
            </p:custDataLst>
          </p:nvPr>
        </p:nvSpPr>
        <p:spPr>
          <a:xfrm>
            <a:off x="4480560" y="1188720"/>
            <a:ext cx="33832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>
            <p:custDataLst>
              <p:tags r:id="rId7"/>
            </p:custDataLst>
          </p:nvPr>
        </p:nvSpPr>
        <p:spPr>
          <a:xfrm>
            <a:off x="4480560" y="1188720"/>
            <a:ext cx="54864" cy="2286000"/>
          </a:xfrm>
          <a:prstGeom prst="rect">
            <a:avLst/>
          </a:prstGeom>
          <a:solidFill>
            <a:srgbClr val="27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8"/>
            </p:custDataLst>
          </p:nvPr>
        </p:nvSpPr>
        <p:spPr>
          <a:xfrm>
            <a:off x="4754880" y="1325880"/>
            <a:ext cx="292608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75B6"/>
                </a:solidFill>
                <a:latin typeface="微软雅黑" panose="020B0503020204020204" charset="-122"/>
              </a:defRPr>
            </a:pPr>
            <a:r>
              <a:rPr lang="en-US"/>
              <a:t>2</a:t>
            </a:r>
            <a:r>
              <a:t>#</a:t>
            </a:r>
          </a:p>
        </p:txBody>
      </p:sp>
      <p:sp>
        <p:nvSpPr>
          <p:cNvPr id="12" name="TextBox 11"/>
          <p:cNvSpPr txBox="1"/>
          <p:nvPr>
            <p:custDataLst>
              <p:tags r:id="rId9"/>
            </p:custDataLst>
          </p:nvPr>
        </p:nvSpPr>
        <p:spPr>
          <a:xfrm>
            <a:off x="4754880" y="1737360"/>
            <a:ext cx="292608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399"/>
                </a:solidFill>
                <a:latin typeface="微软雅黑" panose="020B0503020204020204" charset="-122"/>
              </a:defRPr>
            </a:pPr>
            <a:r>
              <a:rPr lang="en-US" sz="2200" b="1">
                <a:solidFill>
                  <a:srgbClr val="2775B6"/>
                </a:solidFill>
              </a:rPr>
              <a:t>建设目标</a:t>
            </a:r>
            <a:endParaRPr lang="en-US" sz="2200" b="1">
              <a:solidFill>
                <a:srgbClr val="2775B6"/>
              </a:solidFill>
            </a:endParaRPr>
          </a:p>
        </p:txBody>
      </p:sp>
      <p:sp>
        <p:nvSpPr>
          <p:cNvPr id="13" name="TextBox 12"/>
          <p:cNvSpPr txBox="1"/>
          <p:nvPr>
            <p:custDataLst>
              <p:tags r:id="rId10"/>
            </p:custDataLst>
          </p:nvPr>
        </p:nvSpPr>
        <p:spPr>
          <a:xfrm>
            <a:off x="4754880" y="20574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全流程数字化管理</a:t>
            </a:r>
            <a:br/>
            <a:r>
              <a:t>线上挂号 + 号源防超卖</a:t>
            </a:r>
            <a:br/>
            <a:r>
              <a:t>病历加密保护隐私</a:t>
            </a:r>
            <a:br/>
            <a:r>
              <a:t>复诊自动提醒</a:t>
            </a:r>
          </a:p>
        </p:txBody>
      </p:sp>
      <p:sp>
        <p:nvSpPr>
          <p:cNvPr id="14" name="Rectangle 13"/>
          <p:cNvSpPr/>
          <p:nvPr>
            <p:custDataLst>
              <p:tags r:id="rId11"/>
            </p:custDataLst>
          </p:nvPr>
        </p:nvSpPr>
        <p:spPr>
          <a:xfrm>
            <a:off x="8229600" y="1188720"/>
            <a:ext cx="338328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>
            <p:custDataLst>
              <p:tags r:id="rId12"/>
            </p:custDataLst>
          </p:nvPr>
        </p:nvSpPr>
        <p:spPr>
          <a:xfrm>
            <a:off x="8229600" y="1188720"/>
            <a:ext cx="54864" cy="2286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13"/>
            </p:custDataLst>
          </p:nvPr>
        </p:nvSpPr>
        <p:spPr>
          <a:xfrm>
            <a:off x="8503920" y="1325880"/>
            <a:ext cx="292608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rPr lang="en-US"/>
              <a:t>3</a:t>
            </a:r>
            <a:r>
              <a:t>#</a:t>
            </a:r>
          </a:p>
        </p:txBody>
      </p:sp>
      <p:sp>
        <p:nvSpPr>
          <p:cNvPr id="17" name="TextBox 16"/>
          <p:cNvSpPr txBox="1"/>
          <p:nvPr>
            <p:custDataLst>
              <p:tags r:id="rId14"/>
            </p:custDataLst>
          </p:nvPr>
        </p:nvSpPr>
        <p:spPr>
          <a:xfrm>
            <a:off x="8503920" y="1737360"/>
            <a:ext cx="292608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399"/>
                </a:solidFill>
                <a:latin typeface="微软雅黑" panose="020B0503020204020204" charset="-122"/>
              </a:defRPr>
            </a:pPr>
            <a:r>
              <a:rPr lang="en-US" sz="2200" b="1">
                <a:solidFill>
                  <a:srgbClr val="27AE60"/>
                </a:solidFill>
              </a:rPr>
              <a:t>核心价值</a:t>
            </a:r>
            <a:endParaRPr lang="en-US" sz="2200" b="1">
              <a:solidFill>
                <a:srgbClr val="27AE60"/>
              </a:solidFill>
            </a:endParaRPr>
          </a:p>
        </p:txBody>
      </p:sp>
      <p:sp>
        <p:nvSpPr>
          <p:cNvPr id="18" name="TextBox 17"/>
          <p:cNvSpPr txBox="1"/>
          <p:nvPr>
            <p:custDataLst>
              <p:tags r:id="rId15"/>
            </p:custDataLst>
          </p:nvPr>
        </p:nvSpPr>
        <p:spPr>
          <a:xfrm>
            <a:off x="8503920" y="205740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挂号效率提升 90%</a:t>
            </a:r>
            <a:br/>
            <a:r>
              <a:t>病历查阅 5min-&gt;10s</a:t>
            </a:r>
            <a:br/>
            <a:r>
              <a:t>隐私合规保障</a:t>
            </a:r>
            <a:br/>
            <a:r>
              <a:t>复诊率提升 30%+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840480"/>
            <a:ext cx="53035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840480"/>
            <a:ext cx="54864" cy="2286000"/>
          </a:xfrm>
          <a:prstGeom prst="rect">
            <a:avLst/>
          </a:prstGeom>
          <a:solidFill>
            <a:srgbClr val="27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978275"/>
            <a:ext cx="484632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75B6"/>
                </a:solidFill>
                <a:latin typeface="微软雅黑" panose="020B0503020204020204" charset="-122"/>
              </a:defRPr>
            </a:pPr>
            <a:r>
              <a:rPr lang="en-US"/>
              <a:t>4</a:t>
            </a:r>
            <a:r>
              <a:t>#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408170"/>
            <a:ext cx="484632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399"/>
                </a:solidFill>
                <a:latin typeface="微软雅黑" panose="020B0503020204020204" charset="-122"/>
              </a:defRPr>
            </a:pPr>
            <a:r>
              <a:rPr lang="en-US" sz="2200" b="1">
                <a:solidFill>
                  <a:srgbClr val="2775B6"/>
                </a:solidFill>
              </a:rPr>
              <a:t>系统范围</a:t>
            </a:r>
            <a:endParaRPr lang="en-US" sz="2200" b="1">
              <a:solidFill>
                <a:srgbClr val="2775B6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05840" y="470916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10大模块：建档 -&gt; 医生管理 -&gt; 排班 -&gt; 挂号</a:t>
            </a:r>
            <a:br/>
            <a:r>
              <a:t>-&gt; 接诊 -&gt; 处方 -&gt; 收费 -&gt; 病历 -&gt; 复诊 -&gt; 仪表盘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840480"/>
            <a:ext cx="53035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3840480"/>
            <a:ext cx="54864" cy="2286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3977640"/>
            <a:ext cx="484632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rPr lang="en-US"/>
              <a:t>5</a:t>
            </a:r>
            <a:r>
              <a:t>#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389120"/>
            <a:ext cx="484632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399"/>
                </a:solidFill>
                <a:latin typeface="微软雅黑" panose="020B0503020204020204" charset="-122"/>
              </a:defRPr>
            </a:pPr>
            <a:r>
              <a:rPr lang="en-US" sz="2200" b="1">
                <a:solidFill>
                  <a:srgbClr val="27AE60"/>
                </a:solidFill>
              </a:rPr>
              <a:t>技术选型</a:t>
            </a:r>
            <a:endParaRPr lang="en-US" sz="2200" b="1">
              <a:solidFill>
                <a:srgbClr val="27AE6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675120" y="470916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后端：Spring Boot 3.2 + MyBatis-Plus + JWT</a:t>
            </a:r>
            <a:br/>
            <a:r>
              <a:t>中间件：Redis 7(Lua+SETNX) + RabbitMQ 3</a:t>
            </a:r>
            <a:br/>
            <a:r>
              <a:t>前端：Vue 3.4 + Element Plus + ECharts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系统架构设计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45720"/>
          </a:xfrm>
          <a:prstGeom prst="rect">
            <a:avLst/>
          </a:prstGeom>
          <a:solidFill>
            <a:srgbClr val="27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332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75B6"/>
                </a:solidFill>
                <a:latin typeface="微软雅黑" panose="020B0503020204020204" charset="-122"/>
              </a:defRPr>
            </a:pPr>
            <a:r>
              <a:t>展示层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03327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Vue3 + Element Plus + ECharts + Pinia (5173)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377440"/>
            <a:ext cx="10698480" cy="45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87168"/>
            <a:ext cx="10332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业务逻辑层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10332719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Spring Boot 3.2 + Security + JWT</a:t>
            </a:r>
            <a:br/>
            <a:r>
              <a:t>RESTful API (8080)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749039"/>
            <a:ext cx="106984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749039"/>
            <a:ext cx="1069848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58768"/>
            <a:ext cx="10332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微软雅黑" panose="020B0503020204020204" charset="-122"/>
              </a:defRPr>
            </a:pPr>
            <a:r>
              <a:t>数据访问层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10332719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MyBatis-Plus 3.5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754880"/>
            <a:ext cx="32004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754880"/>
            <a:ext cx="3200400" cy="4572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6460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495E"/>
                </a:solidFill>
                <a:latin typeface="微软雅黑" panose="020B0503020204020204" charset="-122"/>
              </a:defRPr>
            </a:pPr>
            <a:r>
              <a:t>MySQL 8.4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66360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13 张表 InnoDB</a:t>
            </a:r>
            <a:br/>
            <a:r>
              <a:t>UTF8MB4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4754880"/>
            <a:ext cx="32004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4754880"/>
            <a:ext cx="3200400" cy="45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486460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Redis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5166360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Lua 扣号源</a:t>
            </a:r>
            <a:br/>
            <a:r>
              <a:t>SETNX 分布式锁</a:t>
            </a:r>
            <a:br/>
            <a:r>
              <a:t>Hash 缓存排班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4754880"/>
            <a:ext cx="35661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3840" y="4754880"/>
            <a:ext cx="3566160" cy="457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19" y="48646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E44AD"/>
                </a:solidFill>
                <a:latin typeface="微软雅黑" panose="020B0503020204020204" charset="-122"/>
              </a:defRPr>
            </a:pPr>
            <a:r>
              <a:t>RabbitMQ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9" y="5166360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复诊异步推送</a:t>
            </a:r>
            <a:br/>
            <a:r>
              <a:t>Direct Exchange</a:t>
            </a:r>
            <a:br/>
            <a:r>
              <a:t>消息持久化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功能模块概览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0574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4864" cy="2377440"/>
          </a:xfrm>
          <a:prstGeom prst="rect">
            <a:avLst/>
          </a:prstGeom>
          <a:solidFill>
            <a:srgbClr val="27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75B6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399"/>
                </a:solidFill>
                <a:latin typeface="微软雅黑" panose="020B0503020204020204" charset="-122"/>
              </a:defRPr>
            </a:pPr>
            <a:r>
              <a:t>工作台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统计+趋势+待办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1188720"/>
            <a:ext cx="20574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71800" y="1188720"/>
            <a:ext cx="54864" cy="2377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3258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7373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399"/>
                </a:solidFill>
                <a:latin typeface="微软雅黑" panose="020B0503020204020204" charset="-122"/>
              </a:defRPr>
            </a:pPr>
            <a:r>
              <a:t>患者管理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05740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建档/过敏史 CRUD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1188720"/>
            <a:ext cx="20574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12080" y="1188720"/>
            <a:ext cx="54864" cy="23774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13258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17373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399"/>
                </a:solidFill>
                <a:latin typeface="微软雅黑" panose="020B0503020204020204" charset="-122"/>
              </a:defRPr>
            </a:pPr>
            <a:r>
              <a:t>医生管理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05740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科室/职称/简介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1188720"/>
            <a:ext cx="20574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52360" y="1188720"/>
            <a:ext cx="54864" cy="23774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80" y="13258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80" y="17373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399"/>
                </a:solidFill>
                <a:latin typeface="微软雅黑" panose="020B0503020204020204" charset="-122"/>
              </a:defRPr>
            </a:pPr>
            <a:r>
              <a:t>挂号管理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80" y="205740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Redis Lua 防超卖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92640" y="1188720"/>
            <a:ext cx="20574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92640" y="1188720"/>
            <a:ext cx="54864" cy="23774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66960" y="13258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E44AD"/>
                </a:solidFill>
                <a:latin typeface="微软雅黑" panose="020B0503020204020204" charset="-122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17373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399"/>
                </a:solidFill>
                <a:latin typeface="微软雅黑" panose="020B0503020204020204" charset="-122"/>
              </a:defRPr>
            </a:pPr>
            <a:r>
              <a:t>就诊管理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205740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接诊-&gt;病历填写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931920"/>
            <a:ext cx="20574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3931920"/>
            <a:ext cx="54864" cy="2377440"/>
          </a:xfrm>
          <a:prstGeom prst="rect">
            <a:avLst/>
          </a:prstGeom>
          <a:solidFill>
            <a:srgbClr val="27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069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75B6"/>
                </a:solidFill>
                <a:latin typeface="微软雅黑" panose="020B0503020204020204" charset="-122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480559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399"/>
                </a:solidFill>
                <a:latin typeface="微软雅黑" panose="020B0503020204020204" charset="-122"/>
              </a:defRPr>
            </a:pPr>
            <a:r>
              <a:t>处方管理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80060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多药品 SETNX 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71800" y="3931920"/>
            <a:ext cx="20574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971800" y="3931920"/>
            <a:ext cx="54864" cy="2377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46120" y="4069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6120" y="4480559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399"/>
                </a:solidFill>
                <a:latin typeface="微软雅黑" panose="020B0503020204020204" charset="-122"/>
              </a:defRPr>
            </a:pPr>
            <a:r>
              <a:t>收费结算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46120" y="480060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多支付方式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12080" y="3931920"/>
            <a:ext cx="20574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212080" y="3931920"/>
            <a:ext cx="54864" cy="23774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0" y="4069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  <a:latin typeface="微软雅黑" panose="020B0503020204020204" charset="-122"/>
              </a:defRPr>
            </a:pPr>
            <a: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0" y="4480559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399"/>
                </a:solidFill>
                <a:latin typeface="微软雅黑" panose="020B0503020204020204" charset="-122"/>
              </a:defRPr>
            </a:pPr>
            <a:r>
              <a:t>电子病历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0" y="480060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AES-256 加密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52360" y="3931920"/>
            <a:ext cx="20574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452360" y="3931920"/>
            <a:ext cx="54864" cy="23774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26680" y="4069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26680" y="4480559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399"/>
                </a:solidFill>
                <a:latin typeface="微软雅黑" panose="020B0503020204020204" charset="-122"/>
              </a:defRPr>
            </a:pPr>
            <a:r>
              <a:t>复诊提醒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26680" y="480060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RabbitMQ 异步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92640" y="3931920"/>
            <a:ext cx="20574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92640" y="3931920"/>
            <a:ext cx="54864" cy="237744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66960" y="40690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495E"/>
                </a:solidFill>
                <a:latin typeface="微软雅黑" panose="020B0503020204020204" charset="-122"/>
              </a:defRPr>
            </a:pPr>
            <a:r>
              <a:t>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60" y="4480559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399"/>
                </a:solidFill>
                <a:latin typeface="微软雅黑" panose="020B0503020204020204" charset="-122"/>
              </a:defRPr>
            </a:pPr>
            <a:r>
              <a:t>用户管理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6960" y="480060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三角色权限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屏幕截图 2026-07-12 1928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4460"/>
            <a:ext cx="12191365" cy="66084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37609" y="2037896"/>
            <a:ext cx="2560825" cy="2193543"/>
          </a:xfrm>
        </p:spPr>
        <p:txBody>
          <a:bodyPr anchor="b" anchorCtr="0"/>
          <a:lstStyle/>
          <a:p>
            <a:pPr algn="ctr"/>
            <a:r>
              <a:rPr lang="zh-CN" altLang="en-US" sz="3595"/>
              <a:t>数据库设计</a:t>
            </a:r>
            <a:endParaRPr lang="zh-CN" altLang="en-US" sz="3595"/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759627" y="4299947"/>
            <a:ext cx="2154848" cy="1249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任意多边形 6"/>
          <p:cNvSpPr/>
          <p:nvPr>
            <p:custDataLst>
              <p:tags r:id="rId3"/>
            </p:custDataLst>
          </p:nvPr>
        </p:nvSpPr>
        <p:spPr>
          <a:xfrm>
            <a:off x="1808823" y="947785"/>
            <a:ext cx="8883911" cy="4962430"/>
          </a:xfrm>
          <a:custGeom>
            <a:avLst/>
            <a:gdLst>
              <a:gd name="connsiteX0" fmla="*/ 5 w 14004"/>
              <a:gd name="connsiteY0" fmla="*/ 1622 h 7822"/>
              <a:gd name="connsiteX1" fmla="*/ 0 w 14004"/>
              <a:gd name="connsiteY1" fmla="*/ 0 h 7822"/>
              <a:gd name="connsiteX2" fmla="*/ 14004 w 14004"/>
              <a:gd name="connsiteY2" fmla="*/ 0 h 7822"/>
              <a:gd name="connsiteX3" fmla="*/ 14004 w 14004"/>
              <a:gd name="connsiteY3" fmla="*/ 7822 h 7822"/>
              <a:gd name="connsiteX4" fmla="*/ 0 w 14004"/>
              <a:gd name="connsiteY4" fmla="*/ 7822 h 7822"/>
              <a:gd name="connsiteX5" fmla="*/ 5 w 14004"/>
              <a:gd name="connsiteY5" fmla="*/ 6212 h 7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004" h="7822">
                <a:moveTo>
                  <a:pt x="5" y="1622"/>
                </a:moveTo>
                <a:lnTo>
                  <a:pt x="0" y="0"/>
                </a:lnTo>
                <a:lnTo>
                  <a:pt x="14004" y="0"/>
                </a:lnTo>
                <a:lnTo>
                  <a:pt x="14004" y="7822"/>
                </a:lnTo>
                <a:lnTo>
                  <a:pt x="0" y="7822"/>
                </a:lnTo>
                <a:lnTo>
                  <a:pt x="5" y="6212"/>
                </a:lnTo>
              </a:path>
            </a:pathLst>
          </a:custGeom>
          <a:noFill/>
          <a:ln w="19050">
            <a:solidFill>
              <a:schemeClr val="accent1">
                <a:alpha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17375" anchor="ctr"/>
          <a:lstStyle/>
          <a:p>
            <a:pPr indent="0" algn="just" fontAlgn="auto">
              <a:lnSpc>
                <a:spcPct val="150000"/>
              </a:lnSpc>
            </a:pPr>
            <a:endParaRPr lang="zh-CN" altLang="en-US" kern="0" spc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3717548" y="1224039"/>
            <a:ext cx="6684660" cy="4401041"/>
          </a:xfrm>
          <a:prstGeom prst="rect">
            <a:avLst/>
          </a:prstGeom>
          <a:noFill/>
        </p:spPr>
        <p:txBody>
          <a:bodyPr wrap="square" rtlCol="0" anchor="ctr" anchorCtr="0">
            <a:normAutofit lnSpcReduction="20000"/>
          </a:bodyPr>
          <a:lstStyle/>
          <a:p>
            <a:pPr marL="0" lvl="0" indent="0" fontAlgn="auto">
              <a:lnSpc>
                <a:spcPct val="150000"/>
              </a:lnSpc>
            </a:pPr>
            <a:r>
              <a:rPr lang="zh-CN" altLang="en-US">
                <a:solidFill>
                  <a:schemeClr val="tx1"/>
                </a:solidFill>
              </a:rPr>
              <a:t>13 张核心业务表 | MySQL 8.4 InnoDB | UTF8MB4</a:t>
            </a:r>
            <a:endParaRPr lang="zh-CN" altLang="en-US">
              <a:solidFill>
                <a:schemeClr val="tx1"/>
              </a:solidFill>
            </a:endParaRPr>
          </a:p>
          <a:p>
            <a:pPr marL="0" lvl="0" indent="0" fontAlgn="auto">
              <a:lnSpc>
                <a:spcPct val="150000"/>
              </a:lnSpc>
            </a:pPr>
            <a:r>
              <a:rPr lang="zh-CN" altLang="en-US">
                <a:solidFill>
                  <a:schemeClr val="tx1"/>
                </a:solidFill>
              </a:rPr>
              <a:t>ER 关系图:</a:t>
            </a:r>
            <a:endParaRPr lang="zh-CN" altLang="en-US">
              <a:solidFill>
                <a:schemeClr val="tx1"/>
              </a:solidFill>
            </a:endParaRPr>
          </a:p>
          <a:p>
            <a:pPr marL="457200" lvl="1" indent="0" fontAlgn="auto">
              <a:lnSpc>
                <a:spcPct val="150000"/>
              </a:lnSpc>
            </a:pPr>
            <a:r>
              <a:rPr lang="zh-CN" altLang="en-US">
                <a:solidFill>
                  <a:schemeClr val="tx1"/>
                </a:solidFill>
              </a:rPr>
              <a:t>sys_user --1:1-- doctor</a:t>
            </a:r>
            <a:endParaRPr lang="zh-CN" altLang="en-US">
              <a:solidFill>
                <a:schemeClr val="tx1"/>
              </a:solidFill>
            </a:endParaRPr>
          </a:p>
          <a:p>
            <a:pPr marL="457200" lvl="1" indent="0" fontAlgn="auto">
              <a:lnSpc>
                <a:spcPct val="150000"/>
              </a:lnSpc>
            </a:pPr>
            <a:r>
              <a:rPr lang="zh-CN" altLang="en-US">
                <a:solidFill>
                  <a:schemeClr val="tx1"/>
                </a:solidFill>
              </a:rPr>
              <a:t>patient --1:N-- registration --1:1-- consultation --1:N-- prescription --1:N-- prescription_drug</a:t>
            </a:r>
            <a:endParaRPr lang="zh-CN" altLang="en-US">
              <a:solidFill>
                <a:schemeClr val="tx1"/>
              </a:solidFill>
            </a:endParaRPr>
          </a:p>
          <a:p>
            <a:pPr marL="457200" lvl="1" indent="0" fontAlgn="auto">
              <a:lnSpc>
                <a:spcPct val="150000"/>
              </a:lnSpc>
            </a:pPr>
            <a:r>
              <a:rPr lang="zh-CN" altLang="en-US">
                <a:solidFill>
                  <a:schemeClr val="tx1"/>
                </a:solidFill>
              </a:rPr>
              <a:t>|                         |                                 |</a:t>
            </a:r>
            <a:endParaRPr lang="zh-CN" altLang="en-US">
              <a:solidFill>
                <a:schemeClr val="tx1"/>
              </a:solidFill>
            </a:endParaRPr>
          </a:p>
          <a:p>
            <a:pPr marL="457200" lvl="1" indent="0" fontAlgn="auto">
              <a:lnSpc>
                <a:spcPct val="150000"/>
              </a:lnSpc>
            </a:pPr>
            <a:r>
              <a:rPr lang="zh-CN" altLang="en-US">
                <a:solidFill>
                  <a:schemeClr val="tx1"/>
                </a:solidFill>
              </a:rPr>
              <a:t>schedule                   bill                         medical_record</a:t>
            </a:r>
            <a:endParaRPr lang="zh-CN" altLang="en-US">
              <a:solidFill>
                <a:schemeClr val="tx1"/>
              </a:solidFill>
            </a:endParaRPr>
          </a:p>
          <a:p>
            <a:pPr marL="0" lvl="0" indent="0" fontAlgn="auto">
              <a:lnSpc>
                <a:spcPct val="150000"/>
              </a:lnSpc>
            </a:pPr>
            <a:r>
              <a:rPr lang="zh-CN" altLang="en-US">
                <a:solidFill>
                  <a:schemeClr val="tx1"/>
                </a:solidFill>
              </a:rPr>
              <a:t>|                   (关联reg+rx)                             |</a:t>
            </a:r>
            <a:endParaRPr lang="zh-CN" altLang="en-US">
              <a:solidFill>
                <a:schemeClr val="tx1"/>
              </a:solidFill>
            </a:endParaRPr>
          </a:p>
          <a:p>
            <a:pPr marL="457200" lvl="1" indent="0" fontAlgn="auto">
              <a:lnSpc>
                <a:spcPct val="150000"/>
              </a:lnSpc>
            </a:pPr>
            <a:r>
              <a:rPr lang="zh-CN" altLang="en-US">
                <a:solidFill>
                  <a:schemeClr val="tx1"/>
                </a:solidFill>
              </a:rPr>
              <a:t>+-- N:1 -- doctor                                    drug --1:1-- drug_stock</a:t>
            </a:r>
            <a:endParaRPr lang="zh-CN" altLang="en-US">
              <a:solidFill>
                <a:schemeClr val="tx1"/>
              </a:solidFill>
            </a:endParaRPr>
          </a:p>
          <a:p>
            <a:pPr marL="0" lvl="0" indent="0" fontAlgn="auto">
              <a:lnSpc>
                <a:spcPct val="150000"/>
              </a:lnSpc>
            </a:pPr>
            <a:r>
              <a:rPr lang="zh-CN" altLang="en-US">
                <a:solidFill>
                  <a:schemeClr val="tx1"/>
                </a:solidFill>
              </a:rPr>
              <a:t>关键索引:uk_username, idx_doctor_date, idx_work_date, uk_drug_id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核心技术一：Redis Lua 原子扣减号源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303520" cy="17259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910" y="988695"/>
            <a:ext cx="54864" cy="1926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484632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X</a:t>
            </a:r>
            <a:r>
              <a:rPr lang="en-US"/>
              <a:t> </a:t>
            </a:r>
            <a:r>
              <a:rPr>
                <a:sym typeface="+mn-ea"/>
              </a:rPr>
              <a:t>问题：MySQL 超卖</a:t>
            </a:r>
            <a:endParaRPr>
              <a:sym typeface="+mn-ea"/>
            </a:endParaRPr>
          </a:p>
          <a:p>
            <a:pPr algn="l">
              <a:defRPr sz="2200" b="1">
                <a:solidFill>
                  <a:srgbClr val="E74C3C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4846320" cy="7200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传统 SELECT -&gt; 判断 -&gt; UPDATE</a:t>
            </a:r>
            <a:br/>
            <a:r>
              <a:t>两线程同时读到 remain=1</a:t>
            </a:r>
            <a:br/>
            <a:r>
              <a:t>-&gt; 都扣减 -&gt; 超卖!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188720"/>
            <a:ext cx="5303520" cy="17195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988695"/>
            <a:ext cx="54864" cy="1926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325880"/>
            <a:ext cx="484632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V</a:t>
            </a:r>
            <a:r>
              <a:rPr lang="en-US"/>
              <a:t> </a:t>
            </a:r>
            <a:r>
              <a:rPr>
                <a:sym typeface="+mn-ea"/>
              </a:rPr>
              <a:t>方案：Redis Lua 原子脚本</a:t>
            </a:r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675120" y="2057400"/>
            <a:ext cx="4846320" cy="7200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将"检查-扣减"打包为 Lua</a:t>
            </a:r>
            <a:br/>
            <a:r>
              <a:t>Redis 单线程串行执行</a:t>
            </a:r>
            <a:br/>
            <a:r>
              <a:t>1.GET 2.if&lt;=0 reject 3.DECR 4.return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360" y="317563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Lua 脚本 (RegistrationService.java)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130" y="3515995"/>
            <a:ext cx="5943600" cy="146304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604895"/>
            <a:ext cx="5577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local stock = redis.call("GET", KEYS[1])</a:t>
            </a:r>
            <a:br/>
            <a:r>
              <a:t>if not stock then return -2 end</a:t>
            </a:r>
            <a:br/>
            <a:r>
              <a:t>stock = tonumber(stock)</a:t>
            </a:r>
            <a:br/>
            <a:r>
              <a:t>if stock &lt;= 0 then return -1 end</a:t>
            </a:r>
            <a:br/>
            <a:r>
              <a:t>redis.call("DECR", KEYS[1])</a:t>
            </a:r>
            <a:br/>
            <a:r>
              <a:t>return stock - 1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86930" y="3520440"/>
            <a:ext cx="429768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0" y="3520440"/>
            <a:ext cx="54864" cy="1463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5035" y="3520440"/>
            <a:ext cx="384048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OK</a:t>
            </a:r>
            <a:r>
              <a:rPr lang="en-US"/>
              <a:t> </a:t>
            </a:r>
            <a:r>
              <a:rPr>
                <a:sym typeface="+mn-ea"/>
              </a:rPr>
              <a:t>验证结果</a:t>
            </a:r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7265035" y="3870960"/>
            <a:ext cx="3840480" cy="11760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35 并发抢 30 号源</a:t>
            </a:r>
            <a:br/>
            <a:r>
              <a:t>CountDownLatch 同步启动</a:t>
            </a:r>
            <a:br/>
            <a:r>
              <a:t>TestRestTemplate 调 API</a:t>
            </a:r>
            <a:br/>
            <a:br/>
            <a:r>
              <a:t>成功 30 | 拒绝 5 | 0 超卖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130" y="5349240"/>
            <a:ext cx="106984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flipH="1">
            <a:off x="709930" y="5349240"/>
            <a:ext cx="7620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130" y="5266690"/>
            <a:ext cx="1024128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&gt;</a:t>
            </a:r>
            <a:r>
              <a:rPr>
                <a:sym typeface="+mn-ea"/>
              </a:rPr>
              <a:t>架构优势</a:t>
            </a:r>
            <a:endParaRPr>
              <a:sym typeface="+mn-ea"/>
            </a:endParaRPr>
          </a:p>
          <a:p>
            <a:pPr algn="l">
              <a:defRPr sz="2200" b="1">
                <a:solidFill>
                  <a:srgbClr val="27AE6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864235" y="5638165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Redis 扛并发流量 -&gt; MySQL 仅做持久化 -&gt; 号源热点从数据库行锁迁移到内存原子操作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屏幕截图 2026-07-12 1929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94005"/>
            <a:ext cx="12191365" cy="62699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核心技术二：Redis SETNX 药品库存分布式锁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530352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45720" cy="19202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微软雅黑" panose="020B0503020204020204" charset="-122"/>
              </a:defRPr>
            </a:pPr>
            <a:r>
              <a:t># 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多张处方同时含同一药品</a:t>
            </a:r>
            <a:br/>
            <a:r>
              <a:t>例如 10 张处方都开布洛芬</a:t>
            </a:r>
            <a:br/>
            <a:r>
              <a:t>库存仅 5 盒 -&gt; 需排队扣减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097280"/>
            <a:ext cx="530352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097280"/>
            <a:ext cx="45720" cy="1920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234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# 实现流程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64592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1. SETNX drug:lock:{id} 1 EX 3</a:t>
            </a:r>
            <a:br/>
            <a:r>
              <a:t>2. 成功 -&gt; 查库存 -&gt; 扣减 -&gt; DEL</a:t>
            </a:r>
            <a:br/>
            <a:r>
              <a:t>3. 失败 -&gt; sleep(5ms) -&gt; 重试</a:t>
            </a:r>
            <a:br/>
            <a:r>
              <a:t>4. Key 3 秒自动过期兜底防死锁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关键设计决策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657600"/>
            <a:ext cx="53035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657600"/>
            <a:ext cx="45720" cy="749808"/>
          </a:xfrm>
          <a:prstGeom prst="rect">
            <a:avLst/>
          </a:prstGeom>
          <a:solidFill>
            <a:srgbClr val="27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730752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75B6"/>
                </a:solidFill>
                <a:latin typeface="微软雅黑" panose="020B0503020204020204" charset="-122"/>
              </a:defRPr>
            </a:pPr>
            <a:r>
              <a:t>StringRedisTemplate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023360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纯字符串操作，避免 JSON 序列化导致的锁值比对失败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657600"/>
            <a:ext cx="53035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657600"/>
            <a:ext cx="45720" cy="749808"/>
          </a:xfrm>
          <a:prstGeom prst="rect">
            <a:avLst/>
          </a:prstGeom>
          <a:solidFill>
            <a:srgbClr val="27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730752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75B6"/>
                </a:solidFill>
                <a:latin typeface="微软雅黑" panose="020B0503020204020204" charset="-122"/>
              </a:defRPr>
            </a:pPr>
            <a:r>
              <a:t>自旋重试 5ms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023360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获取锁失败 sleep(5ms) 错峰，避免线程全部碰撞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480560"/>
            <a:ext cx="53035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480560"/>
            <a:ext cx="45720" cy="749808"/>
          </a:xfrm>
          <a:prstGeom prst="rect">
            <a:avLst/>
          </a:prstGeom>
          <a:solidFill>
            <a:srgbClr val="27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553712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75B6"/>
                </a:solidFill>
                <a:latin typeface="微软雅黑" panose="020B0503020204020204" charset="-122"/>
              </a:defRPr>
            </a:pPr>
            <a:r>
              <a:t>EX 3 秒过期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846320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锁自动过期兜底，防止宕机死锁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480560"/>
            <a:ext cx="530352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4480560"/>
            <a:ext cx="45720" cy="749808"/>
          </a:xfrm>
          <a:prstGeom prst="rect">
            <a:avLst/>
          </a:prstGeom>
          <a:solidFill>
            <a:srgbClr val="27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4553712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75B6"/>
                </a:solidFill>
                <a:latin typeface="微软雅黑" panose="020B0503020204020204" charset="-122"/>
              </a:defRPr>
            </a:pPr>
            <a:r>
              <a:t>HikariCP pool=50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4846320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并发测试时默认 10 连接池会耗尽，需调大到 50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349240"/>
            <a:ext cx="106984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5349240"/>
            <a:ext cx="4572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349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验证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53492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串行 6 次扣 5 盒：成功 5 失败 1     |     并发 30 线程抢 5 盒：成功 5 失败 25     |     库存归零，无超扣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屏幕截图 2026-07-12 1930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4305"/>
            <a:ext cx="12191365" cy="65493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核心技术三&amp;四：RabbitMQ 异步 + AES 病历加密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3035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4864" cy="25603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484632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E44AD"/>
                </a:solidFill>
                <a:latin typeface="微软雅黑" panose="020B0503020204020204" charset="-122"/>
              </a:defRPr>
            </a:pPr>
            <a:r>
              <a:t>#</a:t>
            </a:r>
            <a:r>
              <a:rPr>
                <a:sym typeface="+mn-ea"/>
              </a:rPr>
              <a:t>RabbitMQ 复诊异步提醒</a:t>
            </a:r>
            <a:endParaRPr>
              <a:sym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484632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Direct Exchange + ReminderConsumer</a:t>
            </a:r>
            <a:br/>
            <a:br/>
            <a:r>
              <a:t>完成就诊 -&gt; convertAndSend</a:t>
            </a:r>
            <a:br/>
            <a:r>
              <a:t>-&gt; 前端92ms返回(不阻塞)</a:t>
            </a:r>
            <a:br/>
            <a:r>
              <a:t>-&gt; 消费者后台入库 reminder 表</a:t>
            </a:r>
            <a:br/>
            <a:br/>
            <a:r>
              <a:t>验证：92ms响应 + MQ消费成功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188720"/>
            <a:ext cx="53035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188720"/>
            <a:ext cx="54864" cy="2560320"/>
          </a:xfrm>
          <a:prstGeom prst="rect">
            <a:avLst/>
          </a:prstGeom>
          <a:solidFill>
            <a:srgbClr val="27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325880"/>
            <a:ext cx="484632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75B6"/>
                </a:solidFill>
                <a:latin typeface="微软雅黑" panose="020B0503020204020204" charset="-122"/>
              </a:defRPr>
            </a:pPr>
            <a:r>
              <a:t>#</a:t>
            </a:r>
            <a:r>
              <a:rPr>
                <a:sym typeface="+mn-ea"/>
              </a:rPr>
              <a:t>AES-256 病历加密</a:t>
            </a:r>
            <a:endParaRPr>
              <a:sym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75120" y="2057400"/>
            <a:ext cx="484632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AES/CBC/PKCS5Padding</a:t>
            </a:r>
            <a:br/>
            <a:r>
              <a:t>密钥16字节(配置注入)</a:t>
            </a:r>
            <a:br/>
            <a:r>
              <a:t>IV: ClinicSystem-IV-</a:t>
            </a:r>
            <a:br/>
            <a:br/>
            <a:r>
              <a:t>写入: encrypt-&gt;Base64-&gt;MySQL</a:t>
            </a:r>
            <a:br/>
            <a:r>
              <a:t>读取: Base64解码-&gt;decrypt-&gt;明文</a:t>
            </a:r>
            <a:br/>
            <a:br/>
            <a:r>
              <a:t>验证：5个单元测试全通过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中间件技术对比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480560"/>
            <a:ext cx="1828800" cy="320040"/>
          </a:xfrm>
          <a:prstGeom prst="rect">
            <a:avLst/>
          </a:prstGeom>
          <a:solidFill>
            <a:srgbClr val="27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988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技术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4480560"/>
            <a:ext cx="2560320" cy="320040"/>
          </a:xfrm>
          <a:prstGeom prst="rect">
            <a:avLst/>
          </a:prstGeom>
          <a:solidFill>
            <a:srgbClr val="27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06039" y="44988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场景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4480560"/>
            <a:ext cx="2560320" cy="320040"/>
          </a:xfrm>
          <a:prstGeom prst="rect">
            <a:avLst/>
          </a:prstGeom>
          <a:solidFill>
            <a:srgbClr val="27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66359" y="44988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解决问题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4480560"/>
            <a:ext cx="2011680" cy="320040"/>
          </a:xfrm>
          <a:prstGeom prst="rect">
            <a:avLst/>
          </a:prstGeom>
          <a:solidFill>
            <a:srgbClr val="27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80" y="44988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验证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92640" y="4480560"/>
            <a:ext cx="1737360" cy="320040"/>
          </a:xfrm>
          <a:prstGeom prst="rect">
            <a:avLst/>
          </a:prstGeom>
          <a:solidFill>
            <a:srgbClr val="27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44988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结果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800600"/>
            <a:ext cx="18288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818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Redis Lua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0" y="4800600"/>
            <a:ext cx="25603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06039" y="48188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挂号号源扣减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0" y="4800600"/>
            <a:ext cx="25603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66359" y="48188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并发超卖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0" y="4800600"/>
            <a:ext cx="2011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26680" y="48188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集成测试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92640" y="4800600"/>
            <a:ext cx="17373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38360" y="481888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35并发30成功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120640"/>
            <a:ext cx="1828800" cy="3200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1389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Redis SETNX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0" y="5120640"/>
            <a:ext cx="2560320" cy="3200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06039" y="51389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药品库存扣减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20640" y="5120640"/>
            <a:ext cx="2560320" cy="3200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66359" y="51389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并发超扣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80960" y="5120640"/>
            <a:ext cx="2011680" cy="3200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26680" y="51389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集成测试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92640" y="5120640"/>
            <a:ext cx="1737360" cy="3200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38360" y="51389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30并发5成功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5440680"/>
            <a:ext cx="18288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4589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RabbitMQ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60320" y="5440680"/>
            <a:ext cx="25603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06039" y="54589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复诊异步提醒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20640" y="5440680"/>
            <a:ext cx="25603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66359" y="54589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阻塞前端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80960" y="5440680"/>
            <a:ext cx="20116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26680" y="54589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集成测试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92640" y="5440680"/>
            <a:ext cx="17373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38360" y="545896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92ms响应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1520" y="5760720"/>
            <a:ext cx="1828800" cy="3200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7240" y="57790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AES-256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560320" y="5760720"/>
            <a:ext cx="2560320" cy="3200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06039" y="57790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病历加密存储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20640" y="5760720"/>
            <a:ext cx="2560320" cy="3200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166359" y="57790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隐私泄露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680960" y="5760720"/>
            <a:ext cx="2011680" cy="3200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26680" y="57790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单元测试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692640" y="5760720"/>
            <a:ext cx="1737360" cy="32004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38360" y="57790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5/5通过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屏幕截图 2026-07-12 1935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2405"/>
            <a:ext cx="12191365" cy="64731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权限与安全设计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399"/>
                </a:solidFill>
                <a:latin typeface="微软雅黑" panose="020B0503020204020204" charset="-122"/>
              </a:defRPr>
            </a:pPr>
            <a:r>
              <a:t>三层防护 | 三角色 RBAC | ForbiddenException(403)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4747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4864" cy="1371600"/>
          </a:xfrm>
          <a:prstGeom prst="rect">
            <a:avLst/>
          </a:prstGeom>
          <a:solidFill>
            <a:srgbClr val="27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75B6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399"/>
                </a:solidFill>
                <a:latin typeface="微软雅黑" panose="020B0503020204020204" charset="-122"/>
              </a:defRPr>
            </a:pPr>
            <a:r>
              <a:t>L1: 前端菜单 v-if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301752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无权限者看不见菜单</a:t>
            </a:r>
            <a:br/>
            <a:r>
              <a:t>Layout.vue 每项带角色守卫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463040"/>
            <a:ext cx="34747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463040"/>
            <a:ext cx="54864" cy="1371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1600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011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399"/>
                </a:solidFill>
                <a:latin typeface="微软雅黑" panose="020B0503020204020204" charset="-122"/>
              </a:defRPr>
            </a:pPr>
            <a:r>
              <a:t>L2: 前端路由 roles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331720"/>
            <a:ext cx="301752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手动输URL被守卫踢回</a:t>
            </a:r>
            <a:br/>
            <a:r>
              <a:t>router/index.js 配roles数组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463040"/>
            <a:ext cx="34747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463040"/>
            <a:ext cx="54864" cy="13716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600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0116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399"/>
                </a:solidFill>
                <a:latin typeface="微软雅黑" panose="020B0503020204020204" charset="-122"/>
              </a:defRPr>
            </a:pPr>
            <a:r>
              <a:t>L3: 后端 requireRole()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331720"/>
            <a:ext cx="301752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绕过前端调API返403</a:t>
            </a:r>
            <a:br/>
            <a:r>
              <a:t>ForbiddenException带角色名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108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权限矩阵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474720"/>
            <a:ext cx="2011680" cy="256032"/>
          </a:xfrm>
          <a:prstGeom prst="rect">
            <a:avLst/>
          </a:prstGeom>
          <a:solidFill>
            <a:srgbClr val="27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49300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模块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3474720"/>
            <a:ext cx="4343400" cy="256032"/>
          </a:xfrm>
          <a:prstGeom prst="rect">
            <a:avLst/>
          </a:prstGeom>
          <a:solidFill>
            <a:srgbClr val="27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3493008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读(list)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3474720"/>
            <a:ext cx="4343400" cy="256032"/>
          </a:xfrm>
          <a:prstGeom prst="rect">
            <a:avLst/>
          </a:prstGeom>
          <a:solidFill>
            <a:srgbClr val="27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3493008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写(CUD)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730752"/>
            <a:ext cx="201168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74903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工作台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3730752"/>
            <a:ext cx="43434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88920" y="3749039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所有人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86600" y="3730752"/>
            <a:ext cx="43434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0" y="3749039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--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986783"/>
            <a:ext cx="2011680" cy="25603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005071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患者管理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0" y="3986783"/>
            <a:ext cx="4343400" cy="25603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88920" y="4005071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所有人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86600" y="3986783"/>
            <a:ext cx="4343400" cy="25603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0" y="4005071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ADM+DOC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242816"/>
            <a:ext cx="201168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4261103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医生管理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0" y="4242816"/>
            <a:ext cx="43434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88920" y="4261103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所有人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86600" y="4242816"/>
            <a:ext cx="43434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32320" y="4261103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仅ADM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4498848"/>
            <a:ext cx="2011680" cy="25603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451713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排班管理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4498848"/>
            <a:ext cx="4343400" cy="25603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88920" y="4517136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所有人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086600" y="4498848"/>
            <a:ext cx="4343400" cy="25603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0" y="4517136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仅ADM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4754880"/>
            <a:ext cx="201168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477316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挂号管理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0" y="4754880"/>
            <a:ext cx="43434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88920" y="4773168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所有人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086600" y="4754880"/>
            <a:ext cx="43434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32320" y="4773168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所有人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0" y="5010912"/>
            <a:ext cx="2011680" cy="25603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7240" y="502920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就诊管理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0" y="5010912"/>
            <a:ext cx="4343400" cy="25603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88920" y="5029200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ADM+DOC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086600" y="5010912"/>
            <a:ext cx="4343400" cy="25603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32320" y="5029200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ADM+DOC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31520" y="5266944"/>
            <a:ext cx="201168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77240" y="5285231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处方管理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0" y="5266944"/>
            <a:ext cx="43434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88920" y="5285231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所有人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086600" y="5266944"/>
            <a:ext cx="43434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132320" y="5285231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ADM+DOC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31520" y="5522976"/>
            <a:ext cx="2011680" cy="25603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77240" y="55412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药品管理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0" y="5522976"/>
            <a:ext cx="4343400" cy="25603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788920" y="5541264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ADM+DOC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086600" y="5522976"/>
            <a:ext cx="4343400" cy="25603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132320" y="5541264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仅ADM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31520" y="5779008"/>
            <a:ext cx="201168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77240" y="579729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收费管理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0" y="5779008"/>
            <a:ext cx="43434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788920" y="5797296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ADM+CASHIER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086600" y="5779008"/>
            <a:ext cx="43434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132320" y="5797296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ADM+CASHIER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1520" y="6035040"/>
            <a:ext cx="2011680" cy="25603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77240" y="6053327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病历管理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43200" y="6035040"/>
            <a:ext cx="4343400" cy="25603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88920" y="6053327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ADM+DOC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086600" y="6035040"/>
            <a:ext cx="4343400" cy="25603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132320" y="6053327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ADM+DOC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31520" y="6291072"/>
            <a:ext cx="201168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77240" y="630935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用户管理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0" y="6291072"/>
            <a:ext cx="43434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788920" y="6309359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仅ADM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086600" y="6291072"/>
            <a:ext cx="43434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132320" y="6309359"/>
            <a:ext cx="4343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仅ADM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测试结果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0574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4864" cy="1463040"/>
          </a:xfrm>
          <a:prstGeom prst="rect">
            <a:avLst/>
          </a:prstGeom>
          <a:solidFill>
            <a:srgbClr val="27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75B6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399"/>
                </a:solidFill>
                <a:latin typeface="微软雅黑" panose="020B0503020204020204" charset="-122"/>
              </a:defRPr>
            </a:pPr>
            <a:r>
              <a:t>AesUtilsTest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用例: 5 | 通过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1188720"/>
            <a:ext cx="20574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71800" y="1188720"/>
            <a:ext cx="54864" cy="14630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3258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7373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399"/>
                </a:solidFill>
                <a:latin typeface="微软雅黑" panose="020B0503020204020204" charset="-122"/>
              </a:defRPr>
            </a:pPr>
            <a:r>
              <a:t>JwtTokenTest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05740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用例: 5 | 通过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1188720"/>
            <a:ext cx="20574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12080" y="1188720"/>
            <a:ext cx="54864" cy="1463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13258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17373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399"/>
                </a:solidFill>
                <a:latin typeface="微软雅黑" panose="020B0503020204020204" charset="-122"/>
              </a:defRPr>
            </a:pPr>
            <a:r>
              <a:t>SecurityUtilsTest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05740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用例: 5 | 通过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1188720"/>
            <a:ext cx="20574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52360" y="1188720"/>
            <a:ext cx="54864" cy="1463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80" y="13258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80" y="17373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399"/>
                </a:solidFill>
                <a:latin typeface="微软雅黑" panose="020B0503020204020204" charset="-122"/>
              </a:defRPr>
            </a:pPr>
            <a:r>
              <a:t>MiddlewareIntegration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80" y="2262505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用例: 2 | 通过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92640" y="1188720"/>
            <a:ext cx="20574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92640" y="1188720"/>
            <a:ext cx="54864" cy="14630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66960" y="13258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E44AD"/>
                </a:solidFill>
                <a:latin typeface="微软雅黑" panose="020B0503020204020204" charset="-122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17373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399"/>
                </a:solidFill>
                <a:latin typeface="微软雅黑" panose="020B0503020204020204" charset="-122"/>
              </a:defRPr>
            </a:pPr>
            <a:r>
              <a:t>DrugStockLockTest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205740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用例: 2 | 通过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2926080"/>
            <a:ext cx="1069848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017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5个测试文件 | 19个用例 | 100%通过 | 单元15/15 + 集成4/4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3840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集成测试详情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206240"/>
            <a:ext cx="2560320" cy="292608"/>
          </a:xfrm>
          <a:prstGeom prst="rect">
            <a:avLst/>
          </a:prstGeom>
          <a:solidFill>
            <a:srgbClr val="27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224527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测试方法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91839" y="4206240"/>
            <a:ext cx="1828800" cy="292608"/>
          </a:xfrm>
          <a:prstGeom prst="rect">
            <a:avLst/>
          </a:prstGeom>
          <a:solidFill>
            <a:srgbClr val="27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37559" y="4224527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中间件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20640" y="4206240"/>
            <a:ext cx="3657600" cy="292608"/>
          </a:xfrm>
          <a:prstGeom prst="rect">
            <a:avLst/>
          </a:prstGeom>
          <a:solidFill>
            <a:srgbClr val="27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66359" y="4224527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场景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78240" y="4206240"/>
            <a:ext cx="2651760" cy="292608"/>
          </a:xfrm>
          <a:prstGeom prst="rect">
            <a:avLst/>
          </a:prstGeom>
          <a:solidFill>
            <a:srgbClr val="27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23960" y="4224527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结果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4498848"/>
            <a:ext cx="256032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451713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testRabbitMQAsync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91839" y="4498848"/>
            <a:ext cx="18288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37559" y="451713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RabbitMQ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20640" y="4498848"/>
            <a:ext cx="365760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66359" y="451713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复诊异步不阻塞前端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778240" y="4498848"/>
            <a:ext cx="265176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23960" y="451713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92ms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4791455"/>
            <a:ext cx="2560320" cy="29260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4809743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testRedisLuaAtomic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91839" y="4791455"/>
            <a:ext cx="1828800" cy="29260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37559" y="4809743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Redis Lua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20640" y="4791455"/>
            <a:ext cx="3657600" cy="29260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66359" y="4809743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35并发抢30号源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778240" y="4791455"/>
            <a:ext cx="2651760" cy="292608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23960" y="4809743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成功30拒5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1520" y="56692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09399"/>
                </a:solidFill>
                <a:latin typeface="微软雅黑" panose="020B0503020204020204" charset="-122"/>
              </a:defRPr>
            </a:pPr>
            <a:r>
              <a:t>单元测试覆盖：加解密一致性 | 篡改拒绝 | JWT伪造/过期 | 角色识别 | 异常credentials防御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项目亮点总结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53035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51560"/>
            <a:ext cx="45720" cy="868680"/>
          </a:xfrm>
          <a:prstGeom prst="rect">
            <a:avLst/>
          </a:prstGeom>
          <a:solidFill>
            <a:srgbClr val="27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14300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75B6"/>
                </a:solidFill>
                <a:latin typeface="微软雅黑" panose="020B0503020204020204" charset="-122"/>
              </a:defRPr>
            </a:pPr>
            <a:r>
              <a:t>1. Redis Lua 原子扣减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39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挂号热点从 MySQL 行锁迁移到 Redis，Lua 串行排队，35 并发 0 超卖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051560"/>
            <a:ext cx="53035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051560"/>
            <a:ext cx="45720" cy="8686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14300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微软雅黑" panose="020B0503020204020204" charset="-122"/>
              </a:defRPr>
            </a:pPr>
            <a:r>
              <a:t>2. SETNX 分布式锁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463039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药品库存并发扣减，自旋重试 + 自动过期防死锁，30 线程抢 5 盒精确无误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011680"/>
            <a:ext cx="53035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011680"/>
            <a:ext cx="45720" cy="8686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10312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微软雅黑" panose="020B0503020204020204" charset="-122"/>
              </a:defRPr>
            </a:pPr>
            <a:r>
              <a:t>3. RabbitMQ 异步解耦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423160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复诊提醒不阻塞前端，92ms 内返回，消费者后台异步入库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011680"/>
            <a:ext cx="53035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011680"/>
            <a:ext cx="45720" cy="8686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210312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微软雅黑" panose="020B0503020204020204" charset="-122"/>
              </a:defRPr>
            </a:pPr>
            <a:r>
              <a:t>4. AES-256 病历加密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423160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CBC 模式加密存储，列表脱敏 + 详情解密查看，患者隐私合规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2971800"/>
            <a:ext cx="53035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2971800"/>
            <a:ext cx="45720" cy="8686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06324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E44AD"/>
                </a:solidFill>
                <a:latin typeface="微软雅黑" panose="020B0503020204020204" charset="-122"/>
              </a:defRPr>
            </a:pPr>
            <a:r>
              <a:t>5. RBAC 三层权限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383280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菜单 v-if -&gt; 路由守卫 -&gt; 后端 ForbiddenException，全链路角色隔离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971800"/>
            <a:ext cx="53035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2971800"/>
            <a:ext cx="45720" cy="8686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306324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495E"/>
                </a:solidFill>
                <a:latin typeface="微软雅黑" panose="020B0503020204020204" charset="-122"/>
              </a:defRPr>
            </a:pPr>
            <a:r>
              <a:t>6. 19 全绿测试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3383280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单元 15 + 集成 4，覆盖安全、业务、中间件，通过率 100%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931920"/>
            <a:ext cx="53035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3931920"/>
            <a:ext cx="45720" cy="868680"/>
          </a:xfrm>
          <a:prstGeom prst="rect">
            <a:avLst/>
          </a:prstGeom>
          <a:solidFill>
            <a:srgbClr val="27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402336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75B6"/>
                </a:solidFill>
                <a:latin typeface="微软雅黑" panose="020B0503020204020204" charset="-122"/>
              </a:defRPr>
            </a:pPr>
            <a:r>
              <a:t>7. 全流程闭环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343400"/>
            <a:ext cx="49377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挂号 -&gt; 接诊 -&gt; 处方 -&gt; 收费 -&gt; 病历，完整诊疗链路跑通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7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感谢聆听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2926080"/>
            <a:ext cx="1554480" cy="36576"/>
          </a:xfrm>
          <a:prstGeom prst="rect">
            <a:avLst/>
          </a:prstGeom>
          <a:solidFill>
            <a:srgbClr val="27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09399"/>
                </a:solidFill>
                <a:latin typeface="微软雅黑" panose="020B0503020204020204" charset="-122"/>
              </a:defRPr>
            </a:pPr>
            <a:r>
              <a:t>社区诊所门诊诊疗管理系统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09399"/>
                </a:solidFill>
                <a:latin typeface="微软雅黑" panose="020B0503020204020204" charset="-122"/>
              </a:defRPr>
            </a:pPr>
            <a:r>
              <a:t>Spring Boot + Vue3 + Redis + RabbitMQ + MySQL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09399"/>
                </a:solidFill>
                <a:latin typeface="微软雅黑" panose="020B0503020204020204" charset="-122"/>
              </a:defRPr>
            </a:pPr>
            <a:r>
              <a:t>2026年7月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80,&quot;left&quot;:57.6,&quot;top&quot;:93.6,&quot;width&quot;:856.8}"/>
</p:tagLst>
</file>

<file path=ppt/tags/tag2.xml><?xml version="1.0" encoding="utf-8"?>
<p:tagLst xmlns:p="http://schemas.openxmlformats.org/presentationml/2006/main">
  <p:tag name="KSO_WM_DIAGRAM_VIRTUALLY_FRAME" val="{&quot;height&quot;:180,&quot;left&quot;:57.6,&quot;top&quot;:93.6,&quot;width&quot;:856.8}"/>
</p:tagLst>
</file>

<file path=ppt/tags/tag3.xml><?xml version="1.0" encoding="utf-8"?>
<p:tagLst xmlns:p="http://schemas.openxmlformats.org/presentationml/2006/main">
  <p:tag name="KSO_WM_DIAGRAM_VIRTUALLY_FRAME" val="{&quot;height&quot;:180,&quot;left&quot;:57.6,&quot;top&quot;:93.6,&quot;width&quot;:856.8}"/>
</p:tagLst>
</file>

<file path=ppt/tags/tag4.xml><?xml version="1.0" encoding="utf-8"?>
<p:tagLst xmlns:p="http://schemas.openxmlformats.org/presentationml/2006/main">
  <p:tag name="KSO_WM_DIAGRAM_VIRTUALLY_FRAME" val="{&quot;height&quot;:180,&quot;left&quot;:57.6,&quot;top&quot;:93.6,&quot;width&quot;:856.8}"/>
</p:tagLst>
</file>

<file path=ppt/tags/tag5.xml><?xml version="1.0" encoding="utf-8"?>
<p:tagLst xmlns:p="http://schemas.openxmlformats.org/presentationml/2006/main">
  <p:tag name="KSO_WM_DIAGRAM_VIRTUALLY_FRAME" val="{&quot;height&quot;:180,&quot;left&quot;:57.6,&quot;top&quot;:93.6,&quot;width&quot;:856.8}"/>
</p:tagLst>
</file>

<file path=ppt/tags/tag6.xml><?xml version="1.0" encoding="utf-8"?>
<p:tagLst xmlns:p="http://schemas.openxmlformats.org/presentationml/2006/main">
  <p:tag name="KSO_WM_DIAGRAM_VIRTUALLY_FRAME" val="{&quot;height&quot;:180,&quot;left&quot;:57.6,&quot;top&quot;:93.6,&quot;width&quot;:856.8}"/>
</p:tagLst>
</file>

<file path=ppt/tags/tag7.xml><?xml version="1.0" encoding="utf-8"?>
<p:tagLst xmlns:p="http://schemas.openxmlformats.org/presentationml/2006/main">
  <p:tag name="KSO_WM_DIAGRAM_VIRTUALLY_FRAME" val="{&quot;height&quot;:180,&quot;left&quot;:57.6,&quot;top&quot;:93.6,&quot;width&quot;:856.8}"/>
</p:tagLst>
</file>

<file path=ppt/tags/tag8.xml><?xml version="1.0" encoding="utf-8"?>
<p:tagLst xmlns:p="http://schemas.openxmlformats.org/presentationml/2006/main">
  <p:tag name="KSO_WM_DIAGRAM_VIRTUALLY_FRAME" val="{&quot;height&quot;:180,&quot;left&quot;:57.6,&quot;top&quot;:93.6,&quot;width&quot;:856.8}"/>
</p:tagLst>
</file>

<file path=ppt/tags/tag9.xml><?xml version="1.0" encoding="utf-8"?>
<p:tagLst xmlns:p="http://schemas.openxmlformats.org/presentationml/2006/main">
  <p:tag name="KSO_WM_DIAGRAM_VIRTUALLY_FRAME" val="{&quot;height&quot;:180,&quot;left&quot;:57.6,&quot;top&quot;:93.6,&quot;width&quot;:856.8}"/>
</p:tagLst>
</file>

<file path=ppt/tags/tag10.xml><?xml version="1.0" encoding="utf-8"?>
<p:tagLst xmlns:p="http://schemas.openxmlformats.org/presentationml/2006/main">
  <p:tag name="KSO_WM_DIAGRAM_VIRTUALLY_FRAME" val="{&quot;height&quot;:180,&quot;left&quot;:57.6,&quot;top&quot;:93.6,&quot;width&quot;:856.8}"/>
</p:tagLst>
</file>

<file path=ppt/tags/tag11.xml><?xml version="1.0" encoding="utf-8"?>
<p:tagLst xmlns:p="http://schemas.openxmlformats.org/presentationml/2006/main">
  <p:tag name="KSO_WM_DIAGRAM_VIRTUALLY_FRAME" val="{&quot;height&quot;:180,&quot;left&quot;:57.6,&quot;top&quot;:93.6,&quot;width&quot;:856.8}"/>
</p:tagLst>
</file>

<file path=ppt/tags/tag12.xml><?xml version="1.0" encoding="utf-8"?>
<p:tagLst xmlns:p="http://schemas.openxmlformats.org/presentationml/2006/main">
  <p:tag name="KSO_WM_DIAGRAM_VIRTUALLY_FRAME" val="{&quot;height&quot;:180,&quot;left&quot;:57.6,&quot;top&quot;:93.6,&quot;width&quot;:856.8}"/>
</p:tagLst>
</file>

<file path=ppt/tags/tag13.xml><?xml version="1.0" encoding="utf-8"?>
<p:tagLst xmlns:p="http://schemas.openxmlformats.org/presentationml/2006/main">
  <p:tag name="KSO_WM_DIAGRAM_VIRTUALLY_FRAME" val="{&quot;height&quot;:180,&quot;left&quot;:57.6,&quot;top&quot;:93.6,&quot;width&quot;:856.8}"/>
</p:tagLst>
</file>

<file path=ppt/tags/tag14.xml><?xml version="1.0" encoding="utf-8"?>
<p:tagLst xmlns:p="http://schemas.openxmlformats.org/presentationml/2006/main">
  <p:tag name="KSO_WM_DIAGRAM_VIRTUALLY_FRAME" val="{&quot;height&quot;:180,&quot;left&quot;:57.6,&quot;top&quot;:93.6,&quot;width&quot;:856.8}"/>
</p:tagLst>
</file>

<file path=ppt/tags/tag15.xml><?xml version="1.0" encoding="utf-8"?>
<p:tagLst xmlns:p="http://schemas.openxmlformats.org/presentationml/2006/main">
  <p:tag name="KSO_WM_DIAGRAM_VIRTUALLY_FRAME" val="{&quot;height&quot;:180,&quot;left&quot;:57.6,&quot;top&quot;:93.6,&quot;width&quot;:856.8}"/>
</p:tagLst>
</file>

<file path=ppt/tags/tag1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441_1*a*1"/>
  <p:tag name="KSO_WM_TEMPLATE_CATEGORY" val="custom"/>
  <p:tag name="KSO_WM_TEMPLATE_INDEX" val="20238441"/>
  <p:tag name="KSO_WM_UNIT_LAYERLEVEL" val="1"/>
  <p:tag name="KSO_WM_TAG_VERSION" val="3.0"/>
  <p:tag name="KSO_WM_BEAUTIFY_FLAG" val="#wm#"/>
  <p:tag name="KSO_WM_UNIT_TEXT_TYPE" val="1"/>
  <p:tag name="KSO_WM_UNIT_PRESET_TEXT" val="单击此处添加标题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441_1*i*1"/>
  <p:tag name="KSO_WM_TEMPLATE_CATEGORY" val="custom"/>
  <p:tag name="KSO_WM_TEMPLATE_INDEX" val="2023844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441_1*i*2"/>
  <p:tag name="KSO_WM_TEMPLATE_CATEGORY" val="custom"/>
  <p:tag name="KSO_WM_TEMPLATE_INDEX" val="20238441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9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8441_1*f*1"/>
  <p:tag name="KSO_WM_TEMPLATE_CATEGORY" val="custom"/>
  <p:tag name="KSO_WM_TEMPLATE_INDEX" val="20238441"/>
  <p:tag name="KSO_WM_UNIT_LAYERLEVEL" val="1"/>
  <p:tag name="KSO_WM_TAG_VERSION" val="3.0"/>
  <p:tag name="KSO_WM_BEAUTIFY_FLAG" val="#wm#"/>
  <p:tag name="KSO_WM_UNIT_TEXT_TYPE" val="1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根据需要可酌情增减文字，以便观者准确地理解您传达的思想"/>
</p:tagLst>
</file>

<file path=ppt/tags/tag20.xml><?xml version="1.0" encoding="utf-8"?>
<p:tagLst xmlns:p="http://schemas.openxmlformats.org/presentationml/2006/main">
  <p:tag name="KSO_WM_SLIDE_ID" val="custom20238441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SLIDE_SIZE" val="801*391"/>
  <p:tag name="KSO_WM_SLIDE_POSITION" val="41*74"/>
  <p:tag name="KSO_WM_TAG_VERSION" val="3.0"/>
  <p:tag name="KSO_WM_BEAUTIFY_FLAG" val="#wm#"/>
  <p:tag name="KSO_WM_TEMPLATE_CATEGORY" val="custom"/>
  <p:tag name="KSO_WM_TEMPLATE_INDEX" val="20238441"/>
  <p:tag name="KSO_WM_SLIDE_LAYOUT" val="a_f"/>
  <p:tag name="KSO_WM_SLIDE_LAYOUT_CNT" val="1_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3817</Words>
  <Application>WPS 演示</Application>
  <PresentationFormat>On-screen Show (4:3)</PresentationFormat>
  <Paragraphs>456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数据库设计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起床困难户</cp:lastModifiedBy>
  <cp:revision>15</cp:revision>
  <dcterms:created xsi:type="dcterms:W3CDTF">2013-01-27T09:14:00Z</dcterms:created>
  <dcterms:modified xsi:type="dcterms:W3CDTF">2026-07-12T23:46:09Z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5C3755EDE2534232B85964C530F997CE_12</vt:lpwstr>
  </property>
</Properties>
</file>